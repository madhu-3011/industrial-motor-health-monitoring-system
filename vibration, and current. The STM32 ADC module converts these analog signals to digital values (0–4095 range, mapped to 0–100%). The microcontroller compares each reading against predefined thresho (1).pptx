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IBM Plex Sans" panose="020B0503050203000203" pitchFamily="34" charset="0"/>
      <p:regular r:id="rId13"/>
    </p:embeddedFont>
    <p:embeddedFont>
      <p:font typeface="IBM Plex Sans Bold" panose="020B0803050203000203" charset="0"/>
      <p:regular r:id="rId14"/>
    </p:embeddedFont>
    <p:embeddedFont>
      <p:font typeface="IBM Plex Sans Condensed" panose="020B0506050203000203" pitchFamily="34" charset="0"/>
      <p:regular r:id="rId15"/>
    </p:embeddedFont>
    <p:embeddedFont>
      <p:font typeface="IBM Plex Sans Condensed Bold" panose="020B0806050203000203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50" d="100"/>
          <a:sy n="150" d="100"/>
        </p:scale>
        <p:origin x="-1075" y="-107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"/>
            <a:ext cx="3429000" cy="5145024"/>
            <a:chOff x="0" y="0"/>
            <a:chExt cx="4572000" cy="6860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72000" cy="6860032"/>
            </a:xfrm>
            <a:custGeom>
              <a:avLst/>
              <a:gdLst/>
              <a:ahLst/>
              <a:cxnLst/>
              <a:rect l="l" t="t" r="r" b="b"/>
              <a:pathLst>
                <a:path w="4572000" h="6860032">
                  <a:moveTo>
                    <a:pt x="0" y="0"/>
                  </a:moveTo>
                  <a:lnTo>
                    <a:pt x="4572000" y="0"/>
                  </a:lnTo>
                  <a:lnTo>
                    <a:pt x="4572000" y="6860032"/>
                  </a:lnTo>
                  <a:lnTo>
                    <a:pt x="0" y="6860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3862321" y="399793"/>
            <a:ext cx="2065525" cy="386077"/>
          </a:xfrm>
          <a:custGeom>
            <a:avLst/>
            <a:gdLst/>
            <a:ahLst/>
            <a:cxnLst/>
            <a:rect l="l" t="t" r="r" b="b"/>
            <a:pathLst>
              <a:path w="2065525" h="386077">
                <a:moveTo>
                  <a:pt x="0" y="0"/>
                </a:moveTo>
                <a:lnTo>
                  <a:pt x="2065525" y="0"/>
                </a:lnTo>
                <a:lnTo>
                  <a:pt x="2065525" y="386077"/>
                </a:lnTo>
                <a:lnTo>
                  <a:pt x="0" y="386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177541" y="523208"/>
            <a:ext cx="1580950" cy="13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5"/>
              </a:lnSpc>
            </a:pPr>
            <a:r>
              <a:rPr lang="en-US" sz="839" spc="-2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EMBEDDED SYSTEMS PROJECT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19162" y="523208"/>
            <a:ext cx="855602" cy="13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5"/>
              </a:lnSpc>
            </a:pPr>
            <a:r>
              <a:rPr lang="en-US" sz="839" spc="-2">
                <a:solidFill>
                  <a:srgbClr val="DCFF5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STM32F103C8T6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26462" y="743474"/>
            <a:ext cx="3797179" cy="128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712" spc="2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Industrial Motor HealthMonitoring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67238" y="2298240"/>
            <a:ext cx="33928" cy="188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8"/>
              </a:lnSpc>
            </a:pPr>
            <a:r>
              <a:rPr lang="en-US" sz="105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64444" y="3932580"/>
            <a:ext cx="1036082" cy="188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8"/>
              </a:lnSpc>
            </a:pPr>
            <a:r>
              <a:rPr lang="en-US" sz="105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MADHUMITHA</a:t>
            </a:r>
            <a:r>
              <a:rPr lang="en-US" sz="1056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5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64444" y="4170921"/>
            <a:ext cx="1036082" cy="178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78"/>
              </a:lnSpc>
            </a:pPr>
            <a:r>
              <a:rPr lang="en-US" sz="1056" spc="-8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422423106034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26462" y="2298240"/>
            <a:ext cx="2615232" cy="188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8"/>
              </a:lnSpc>
            </a:pPr>
            <a:r>
              <a:rPr lang="en-US" sz="105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UsingtheSTM32F103C8T6 Microcontroller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26462" y="2642149"/>
            <a:ext cx="4815126" cy="631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lang="en-US" sz="105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A real-time motor condition monitoring system that detects abnormal operating states using simulated sensor inputs —designed to support preventive maintenance in industrial environments.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1335" y="3627844"/>
            <a:ext cx="798224" cy="18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1"/>
              </a:lnSpc>
            </a:pPr>
            <a:r>
              <a:rPr lang="en-US" sz="1058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Presented By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15384" y="1164336"/>
            <a:ext cx="4529328" cy="3572256"/>
          </a:xfrm>
          <a:custGeom>
            <a:avLst/>
            <a:gdLst/>
            <a:ahLst/>
            <a:cxnLst/>
            <a:rect l="l" t="t" r="r" b="b"/>
            <a:pathLst>
              <a:path w="4529328" h="3572256">
                <a:moveTo>
                  <a:pt x="0" y="0"/>
                </a:moveTo>
                <a:lnTo>
                  <a:pt x="4529328" y="0"/>
                </a:lnTo>
                <a:lnTo>
                  <a:pt x="4529328" y="3572256"/>
                </a:lnTo>
                <a:lnTo>
                  <a:pt x="0" y="3572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343400" y="1289304"/>
            <a:ext cx="313944" cy="316992"/>
            <a:chOff x="0" y="0"/>
            <a:chExt cx="418592" cy="42265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8592" cy="422656"/>
            </a:xfrm>
            <a:custGeom>
              <a:avLst/>
              <a:gdLst/>
              <a:ahLst/>
              <a:cxnLst/>
              <a:rect l="l" t="t" r="r" b="b"/>
              <a:pathLst>
                <a:path w="418592" h="422656">
                  <a:moveTo>
                    <a:pt x="0" y="0"/>
                  </a:moveTo>
                  <a:lnTo>
                    <a:pt x="418592" y="0"/>
                  </a:lnTo>
                  <a:lnTo>
                    <a:pt x="418592" y="422656"/>
                  </a:lnTo>
                  <a:lnTo>
                    <a:pt x="0" y="422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43400" y="2471928"/>
            <a:ext cx="313944" cy="316992"/>
            <a:chOff x="0" y="0"/>
            <a:chExt cx="418592" cy="4226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8592" cy="422656"/>
            </a:xfrm>
            <a:custGeom>
              <a:avLst/>
              <a:gdLst/>
              <a:ahLst/>
              <a:cxnLst/>
              <a:rect l="l" t="t" r="r" b="b"/>
              <a:pathLst>
                <a:path w="418592" h="422656">
                  <a:moveTo>
                    <a:pt x="0" y="0"/>
                  </a:moveTo>
                  <a:lnTo>
                    <a:pt x="418592" y="0"/>
                  </a:lnTo>
                  <a:lnTo>
                    <a:pt x="418592" y="422656"/>
                  </a:lnTo>
                  <a:lnTo>
                    <a:pt x="0" y="422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343400" y="3654552"/>
            <a:ext cx="313944" cy="313944"/>
            <a:chOff x="0" y="0"/>
            <a:chExt cx="418592" cy="4185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8592" cy="418592"/>
            </a:xfrm>
            <a:custGeom>
              <a:avLst/>
              <a:gdLst/>
              <a:ahLst/>
              <a:cxnLst/>
              <a:rect l="l" t="t" r="r" b="b"/>
              <a:pathLst>
                <a:path w="418592" h="418592">
                  <a:moveTo>
                    <a:pt x="0" y="0"/>
                  </a:moveTo>
                  <a:lnTo>
                    <a:pt x="418592" y="0"/>
                  </a:lnTo>
                  <a:lnTo>
                    <a:pt x="418592" y="418592"/>
                  </a:lnTo>
                  <a:lnTo>
                    <a:pt x="0" y="418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6214" y="606838"/>
            <a:ext cx="3590115" cy="237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9"/>
              </a:lnSpc>
            </a:pPr>
            <a:r>
              <a:rPr lang="en-US" sz="1946" spc="23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Introduction</a:t>
            </a:r>
          </a:p>
          <a:p>
            <a:pPr algn="l">
              <a:lnSpc>
                <a:spcPts val="1435"/>
              </a:lnSpc>
            </a:pPr>
            <a:r>
              <a:rPr lang="en-US" sz="960" spc="-7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Industrial motors are critical to manufacturing and process industries. Unexpected failures can lead to costly downtime, production loss, and safety hazards.</a:t>
            </a:r>
          </a:p>
          <a:p>
            <a:pPr algn="l" rtl="1">
              <a:lnSpc>
                <a:spcPts val="1435"/>
              </a:lnSpc>
            </a:pPr>
            <a:endParaRPr lang="en-US" sz="960" spc="-7" dirty="0">
              <a:solidFill>
                <a:srgbClr val="E5E0D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1435"/>
              </a:lnSpc>
            </a:pPr>
            <a:r>
              <a:rPr lang="en-US" sz="960" spc="-7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This project presents a motor health monitoring system built around the </a:t>
            </a:r>
            <a:r>
              <a:rPr lang="en-US" sz="960" b="1" spc="-7" dirty="0">
                <a:solidFill>
                  <a:srgbClr val="E5E0D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STM32F103C8T6</a:t>
            </a:r>
            <a:r>
              <a:rPr lang="en-US" sz="960" spc="-7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microcontroller. It continuously checks three key motor parameters —temperature, vibration, and current —and alerts operators before damage occurs.</a:t>
            </a:r>
          </a:p>
          <a:p>
            <a:pPr algn="l">
              <a:lnSpc>
                <a:spcPts val="1435"/>
              </a:lnSpc>
            </a:pPr>
            <a:r>
              <a:rPr lang="en-US" sz="960" spc="-7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system is simulated entirely in software, making it a safe and repeatable platform for testing fault detection logic.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44667" y="4426772"/>
            <a:ext cx="1243832" cy="164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lang="en-US" sz="960" spc="-7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Electrical load tracking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44667" y="3244453"/>
            <a:ext cx="1544155" cy="164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lang="en-US" sz="960" spc="-7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Mechanical stress detection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44667" y="2062086"/>
            <a:ext cx="1707194" cy="164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lang="en-US" sz="960" spc="-7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Continuous thermal monitoring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44667" y="4083672"/>
            <a:ext cx="652882" cy="206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Current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44667" y="2901325"/>
            <a:ext cx="839419" cy="206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Vibration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44667" y="1719082"/>
            <a:ext cx="1025957" cy="206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Temperature</a:t>
            </a: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40151" y="2608583"/>
            <a:ext cx="2589781" cy="297685"/>
          </a:xfrm>
          <a:custGeom>
            <a:avLst/>
            <a:gdLst/>
            <a:ahLst/>
            <a:cxnLst/>
            <a:rect l="l" t="t" r="r" b="b"/>
            <a:pathLst>
              <a:path w="2589781" h="297685">
                <a:moveTo>
                  <a:pt x="0" y="0"/>
                </a:moveTo>
                <a:lnTo>
                  <a:pt x="2589781" y="0"/>
                </a:lnTo>
                <a:lnTo>
                  <a:pt x="2589781" y="297685"/>
                </a:lnTo>
                <a:lnTo>
                  <a:pt x="0" y="2976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071872" y="1493520"/>
            <a:ext cx="3681984" cy="3048000"/>
          </a:xfrm>
          <a:custGeom>
            <a:avLst/>
            <a:gdLst/>
            <a:ahLst/>
            <a:cxnLst/>
            <a:rect l="l" t="t" r="r" b="b"/>
            <a:pathLst>
              <a:path w="3681984" h="3048000">
                <a:moveTo>
                  <a:pt x="0" y="0"/>
                </a:moveTo>
                <a:lnTo>
                  <a:pt x="3681984" y="0"/>
                </a:lnTo>
                <a:lnTo>
                  <a:pt x="3681984" y="3048000"/>
                </a:lnTo>
                <a:lnTo>
                  <a:pt x="0" y="3048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5193792" y="1996440"/>
            <a:ext cx="1630680" cy="1304544"/>
            <a:chOff x="0" y="0"/>
            <a:chExt cx="2174240" cy="17393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74240" cy="1739392"/>
            </a:xfrm>
            <a:custGeom>
              <a:avLst/>
              <a:gdLst/>
              <a:ahLst/>
              <a:cxnLst/>
              <a:rect l="l" t="t" r="r" b="b"/>
              <a:pathLst>
                <a:path w="2174240" h="1739392">
                  <a:moveTo>
                    <a:pt x="0" y="0"/>
                  </a:moveTo>
                  <a:lnTo>
                    <a:pt x="2174240" y="0"/>
                  </a:lnTo>
                  <a:lnTo>
                    <a:pt x="2174240" y="1739392"/>
                  </a:lnTo>
                  <a:lnTo>
                    <a:pt x="0" y="1739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982968" y="1996440"/>
            <a:ext cx="1630680" cy="1304544"/>
            <a:chOff x="0" y="0"/>
            <a:chExt cx="2174240" cy="17393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4240" cy="1739392"/>
            </a:xfrm>
            <a:custGeom>
              <a:avLst/>
              <a:gdLst/>
              <a:ahLst/>
              <a:cxnLst/>
              <a:rect l="l" t="t" r="r" b="b"/>
              <a:pathLst>
                <a:path w="2174240" h="1739392">
                  <a:moveTo>
                    <a:pt x="0" y="0"/>
                  </a:moveTo>
                  <a:lnTo>
                    <a:pt x="2174240" y="0"/>
                  </a:lnTo>
                  <a:lnTo>
                    <a:pt x="2174240" y="1739392"/>
                  </a:lnTo>
                  <a:lnTo>
                    <a:pt x="0" y="1739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93792" y="3544824"/>
            <a:ext cx="3419856" cy="856488"/>
            <a:chOff x="0" y="0"/>
            <a:chExt cx="4559808" cy="11419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59808" cy="1141984"/>
            </a:xfrm>
            <a:custGeom>
              <a:avLst/>
              <a:gdLst/>
              <a:ahLst/>
              <a:cxnLst/>
              <a:rect l="l" t="t" r="r" b="b"/>
              <a:pathLst>
                <a:path w="4559808" h="1141984">
                  <a:moveTo>
                    <a:pt x="0" y="0"/>
                  </a:moveTo>
                  <a:lnTo>
                    <a:pt x="4559808" y="0"/>
                  </a:lnTo>
                  <a:lnTo>
                    <a:pt x="4559808" y="1141984"/>
                  </a:lnTo>
                  <a:lnTo>
                    <a:pt x="0" y="1141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81254" y="664940"/>
            <a:ext cx="1363027" cy="142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5"/>
              </a:lnSpc>
            </a:pPr>
            <a:endParaRPr lang="en-US" sz="839" spc="-2" dirty="0">
              <a:solidFill>
                <a:srgbClr val="DCFF5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96214" y="868975"/>
            <a:ext cx="2913698" cy="383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4"/>
              </a:lnSpc>
            </a:pPr>
            <a:r>
              <a:rPr lang="en-US" sz="2210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Problem Statement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47440" y="1639395"/>
            <a:ext cx="35471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6214" y="2639006"/>
            <a:ext cx="4432964" cy="113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3"/>
              </a:lnSpc>
            </a:pPr>
            <a:r>
              <a:rPr lang="en-US" sz="1103" spc="-8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There is a need for a </a:t>
            </a:r>
            <a:r>
              <a:rPr lang="en-US" sz="1103" spc="-8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 Low-cost, automated monitoring </a:t>
            </a:r>
            <a:r>
              <a:rPr lang="en-US" sz="1103" spc="-8" dirty="0" err="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system</a:t>
            </a:r>
            <a:r>
              <a:rPr lang="en-US" sz="1103" spc="-8" dirty="0" err="1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that</a:t>
            </a:r>
            <a:r>
              <a:rPr lang="en-US" sz="1103" spc="-8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can detect early signs of trouble and alert the operator immediately.</a:t>
            </a:r>
          </a:p>
          <a:p>
            <a:pPr algn="l">
              <a:lnSpc>
                <a:spcPts val="1753"/>
              </a:lnSpc>
            </a:pPr>
            <a:r>
              <a:rPr lang="en-US" sz="1103" spc="-8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This project addresses that gap by building a simple monitoring solution that reads analog sensor values, classifies the motor's </a:t>
            </a:r>
          </a:p>
          <a:p>
            <a:pPr algn="l">
              <a:lnSpc>
                <a:spcPts val="1753"/>
              </a:lnSpc>
            </a:pPr>
            <a:r>
              <a:rPr lang="en-US" sz="1103" spc="-8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health, and provides real-time alerts.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6214" y="1639395"/>
            <a:ext cx="4130621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Industrial motors often failwithout warning. By the time a fault is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6214" y="1843097"/>
            <a:ext cx="4431516" cy="650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2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noticed, the motor may already be damaged. Regular manual inspection is not always practical, especially in large plants with many machines.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50980" y="3947360"/>
            <a:ext cx="35547" cy="18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95846" y="4170455"/>
            <a:ext cx="848916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already done.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95846" y="2600906"/>
            <a:ext cx="1439418" cy="650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2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Motors fail without early warning, causing unplanned</a:t>
            </a:r>
            <a:r>
              <a:rPr lang="en-US" sz="1103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downtime.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95846" y="3947360"/>
            <a:ext cx="3081442" cy="18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Bythetimeaproblem is visible, damage is often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16014" y="1597609"/>
            <a:ext cx="1473070" cy="238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343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Key Challenges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95846" y="1997354"/>
            <a:ext cx="844391" cy="43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lang="en-US" sz="1346" spc="18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Sudden Failures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95846" y="3528136"/>
            <a:ext cx="1473070" cy="238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343" spc="17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Late Detection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06176" y="1978304"/>
            <a:ext cx="104651" cy="23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346" spc="10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84393" y="2211276"/>
            <a:ext cx="1161507" cy="432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43" spc="20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Inspection Limits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84393" y="1978304"/>
            <a:ext cx="633165" cy="23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346" spc="18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Manual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6824" y="1456944"/>
            <a:ext cx="4005072" cy="1490472"/>
            <a:chOff x="0" y="0"/>
            <a:chExt cx="5340096" cy="19872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40096" cy="1987296"/>
            </a:xfrm>
            <a:custGeom>
              <a:avLst/>
              <a:gdLst/>
              <a:ahLst/>
              <a:cxnLst/>
              <a:rect l="l" t="t" r="r" b="b"/>
              <a:pathLst>
                <a:path w="5340096" h="1987296">
                  <a:moveTo>
                    <a:pt x="0" y="0"/>
                  </a:moveTo>
                  <a:lnTo>
                    <a:pt x="5340096" y="0"/>
                  </a:lnTo>
                  <a:lnTo>
                    <a:pt x="5340096" y="1987296"/>
                  </a:lnTo>
                  <a:lnTo>
                    <a:pt x="0" y="1987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642104" y="1456944"/>
            <a:ext cx="4005072" cy="1490472"/>
            <a:chOff x="0" y="0"/>
            <a:chExt cx="5340096" cy="19872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40096" cy="1987296"/>
            </a:xfrm>
            <a:custGeom>
              <a:avLst/>
              <a:gdLst/>
              <a:ahLst/>
              <a:cxnLst/>
              <a:rect l="l" t="t" r="r" b="b"/>
              <a:pathLst>
                <a:path w="5340096" h="1987296">
                  <a:moveTo>
                    <a:pt x="0" y="0"/>
                  </a:moveTo>
                  <a:lnTo>
                    <a:pt x="5340096" y="0"/>
                  </a:lnTo>
                  <a:lnTo>
                    <a:pt x="5340096" y="1987296"/>
                  </a:lnTo>
                  <a:lnTo>
                    <a:pt x="0" y="1987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96824" y="3087624"/>
            <a:ext cx="4005072" cy="1487424"/>
            <a:chOff x="0" y="0"/>
            <a:chExt cx="5340096" cy="19832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40096" cy="1983232"/>
            </a:xfrm>
            <a:custGeom>
              <a:avLst/>
              <a:gdLst/>
              <a:ahLst/>
              <a:cxnLst/>
              <a:rect l="l" t="t" r="r" b="b"/>
              <a:pathLst>
                <a:path w="5340096" h="1983232">
                  <a:moveTo>
                    <a:pt x="0" y="0"/>
                  </a:moveTo>
                  <a:lnTo>
                    <a:pt x="5340096" y="0"/>
                  </a:lnTo>
                  <a:lnTo>
                    <a:pt x="5340096" y="1983232"/>
                  </a:lnTo>
                  <a:lnTo>
                    <a:pt x="0" y="198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642104" y="3087624"/>
            <a:ext cx="4005072" cy="1487424"/>
            <a:chOff x="0" y="0"/>
            <a:chExt cx="5340096" cy="19832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40096" cy="1983232"/>
            </a:xfrm>
            <a:custGeom>
              <a:avLst/>
              <a:gdLst/>
              <a:ahLst/>
              <a:cxnLst/>
              <a:rect l="l" t="t" r="r" b="b"/>
              <a:pathLst>
                <a:path w="5340096" h="1983232">
                  <a:moveTo>
                    <a:pt x="0" y="0"/>
                  </a:moveTo>
                  <a:lnTo>
                    <a:pt x="5340096" y="0"/>
                  </a:lnTo>
                  <a:lnTo>
                    <a:pt x="5340096" y="1983232"/>
                  </a:lnTo>
                  <a:lnTo>
                    <a:pt x="0" y="198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96214" y="834485"/>
            <a:ext cx="3084500" cy="38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207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Project Objectives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51230" y="1533954"/>
            <a:ext cx="100917" cy="23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298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9177" y="1533954"/>
            <a:ext cx="100917" cy="231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298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7149" y="1988010"/>
            <a:ext cx="2212286" cy="238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343" spc="17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Continuous Monitoring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7526" y="2350846"/>
            <a:ext cx="35471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7149" y="3618690"/>
            <a:ext cx="2419664" cy="238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343" spc="16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Visual &amp; Audible Alerts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2856" y="3981479"/>
            <a:ext cx="35471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05172" y="3618690"/>
            <a:ext cx="1583455" cy="238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343" spc="20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Reduce Downtime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29995" y="3981479"/>
            <a:ext cx="35471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05172" y="1988010"/>
            <a:ext cx="2215620" cy="238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343" spc="18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Early Fault Detection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70525" y="2350846"/>
            <a:ext cx="35471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7149" y="3962429"/>
            <a:ext cx="3465471" cy="427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2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Warnoperatorsimmediatelyusingcolored LEDs and a buzzer at different frequencies.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7149" y="2350846"/>
            <a:ext cx="3478054" cy="408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Tracktemperature,vibration,andcurrent values in real time</a:t>
            </a:r>
            <a:r>
              <a:rPr lang="en-US" sz="1103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using</a:t>
            </a:r>
            <a:r>
              <a:rPr lang="en-US" sz="1103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</a:t>
            </a:r>
            <a:r>
              <a:rPr lang="en-US" sz="1103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ADC</a:t>
            </a:r>
            <a:r>
              <a:rPr lang="en-US" sz="1103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module.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05172" y="3981479"/>
            <a:ext cx="3128105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Minimize unexpectedmotor failures and support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05172" y="4203983"/>
            <a:ext cx="2139029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7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preventive maintenance planning.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05172" y="2350846"/>
            <a:ext cx="3497647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Identifyabnormalmotorconditionsbefore they lead to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805172" y="2573064"/>
            <a:ext cx="1058294" cy="18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serious</a:t>
            </a:r>
            <a:r>
              <a:rPr lang="en-US" sz="1106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0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damage.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51230" y="3164938"/>
            <a:ext cx="100727" cy="230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2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99177" y="3164938"/>
            <a:ext cx="100727" cy="230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296" spc="1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4</a:t>
            </a: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1717" y="994518"/>
            <a:ext cx="2520411" cy="1350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10"/>
              </a:lnSpc>
            </a:pPr>
            <a:r>
              <a:rPr lang="en-US" sz="2210" spc="17" dirty="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System Overview</a:t>
            </a:r>
          </a:p>
          <a:p>
            <a:pPr algn="just">
              <a:lnSpc>
                <a:spcPts val="1756"/>
              </a:lnSpc>
            </a:pPr>
            <a:r>
              <a:rPr lang="en-US" sz="1106" spc="885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  <a:p>
            <a:pPr algn="just">
              <a:lnSpc>
                <a:spcPts val="1753"/>
              </a:lnSpc>
            </a:pPr>
            <a:r>
              <a:rPr lang="en-US" sz="1103" spc="-8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  <a:p>
            <a:pPr algn="just">
              <a:lnSpc>
                <a:spcPts val="1753"/>
              </a:lnSpc>
            </a:pPr>
            <a:r>
              <a:rPr lang="en-US" sz="1103" spc="-8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  <a:p>
            <a:pPr algn="just">
              <a:lnSpc>
                <a:spcPts val="1753"/>
              </a:lnSpc>
            </a:pPr>
            <a:r>
              <a:rPr lang="en-US" sz="1103" spc="-8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76579" y="1483023"/>
            <a:ext cx="35547" cy="18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spc="885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4711" y="2598852"/>
            <a:ext cx="48301" cy="18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9023" y="1483023"/>
            <a:ext cx="1792824" cy="18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spc="-8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Monitors</a:t>
            </a:r>
            <a:r>
              <a:rPr lang="en-US" sz="1106" spc="-8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06" spc="-8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motor</a:t>
            </a:r>
            <a:r>
              <a:rPr lang="en-US" sz="1106" spc="-8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06" spc="-8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health</a:t>
            </a:r>
            <a:r>
              <a:rPr lang="en-US" sz="1106" spc="-8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06" spc="-8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using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9586" y="1706194"/>
            <a:ext cx="35471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9023" y="2599230"/>
            <a:ext cx="3890305" cy="18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spc="-8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Transmits real-time motor status and fault information to the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16726" y="1483023"/>
            <a:ext cx="768067" cy="18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parameters.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75755" y="1706194"/>
            <a:ext cx="35471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11809" y="1483023"/>
            <a:ext cx="2318966" cy="18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b="1" spc="13">
                <a:solidFill>
                  <a:srgbClr val="E5E0D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Temperature, Vibration, and Current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61401" y="1706194"/>
            <a:ext cx="35471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36310" y="2599230"/>
            <a:ext cx="2971305" cy="18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b="1" spc="13">
                <a:solidFill>
                  <a:srgbClr val="E5E0D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serial terminal through UART communication</a:t>
            </a:r>
            <a:r>
              <a:rPr lang="en-US" sz="1106" spc="13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.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9023" y="1706194"/>
            <a:ext cx="5007302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Uses</a:t>
            </a:r>
            <a:r>
              <a:rPr lang="en-US" sz="1103" b="1" spc="-8">
                <a:solidFill>
                  <a:srgbClr val="E5E0D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STM32F103C8T6</a:t>
            </a: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microcontroller fordataprocessingandfaultdetection.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023" y="1909648"/>
            <a:ext cx="7649185" cy="650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3"/>
              </a:lnSpc>
            </a:pPr>
            <a:r>
              <a:rPr lang="en-US" sz="1103" spc="-8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Processes sensor values and compares them with </a:t>
            </a:r>
            <a:r>
              <a:rPr lang="en-US" sz="1103" b="1" spc="-8" dirty="0">
                <a:solidFill>
                  <a:srgbClr val="E5E0D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predefined threshold </a:t>
            </a:r>
            <a:r>
              <a:rPr lang="en-US" sz="1103" b="1" spc="-8" dirty="0" err="1">
                <a:solidFill>
                  <a:srgbClr val="E5E0D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levels</a:t>
            </a:r>
            <a:r>
              <a:rPr lang="en-US" sz="1103" spc="-8" dirty="0" err="1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to</a:t>
            </a:r>
            <a:r>
              <a:rPr lang="en-US" sz="1103" spc="-8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determine the motor's health condition. Continuously checks all parameters and activates the appropriate </a:t>
            </a:r>
            <a:r>
              <a:rPr lang="en-US" sz="1103" b="1" spc="-8" dirty="0">
                <a:solidFill>
                  <a:srgbClr val="E5E0D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LED and buzzer </a:t>
            </a:r>
            <a:r>
              <a:rPr lang="en-US" sz="1103" b="1" spc="-8" dirty="0" err="1">
                <a:solidFill>
                  <a:srgbClr val="E5E0D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alerts</a:t>
            </a:r>
            <a:r>
              <a:rPr lang="en-US" sz="1103" spc="-8" dirty="0" err="1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when</a:t>
            </a:r>
            <a:r>
              <a:rPr lang="en-US" sz="1103" spc="-8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abnormal conditions are detected.</a:t>
            </a: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6824" y="743712"/>
            <a:ext cx="2002536" cy="2005584"/>
            <a:chOff x="0" y="0"/>
            <a:chExt cx="2670048" cy="26741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70048" cy="2674112"/>
            </a:xfrm>
            <a:custGeom>
              <a:avLst/>
              <a:gdLst/>
              <a:ahLst/>
              <a:cxnLst/>
              <a:rect l="l" t="t" r="r" b="b"/>
              <a:pathLst>
                <a:path w="2670048" h="2674112">
                  <a:moveTo>
                    <a:pt x="0" y="0"/>
                  </a:moveTo>
                  <a:lnTo>
                    <a:pt x="2670048" y="0"/>
                  </a:lnTo>
                  <a:lnTo>
                    <a:pt x="2670048" y="2674112"/>
                  </a:lnTo>
                  <a:lnTo>
                    <a:pt x="0" y="2674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545080" y="743712"/>
            <a:ext cx="6102096" cy="2005584"/>
            <a:chOff x="0" y="0"/>
            <a:chExt cx="8136128" cy="26741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36128" cy="2674112"/>
            </a:xfrm>
            <a:custGeom>
              <a:avLst/>
              <a:gdLst/>
              <a:ahLst/>
              <a:cxnLst/>
              <a:rect l="l" t="t" r="r" b="b"/>
              <a:pathLst>
                <a:path w="8136128" h="2674112">
                  <a:moveTo>
                    <a:pt x="0" y="0"/>
                  </a:moveTo>
                  <a:lnTo>
                    <a:pt x="8136128" y="0"/>
                  </a:lnTo>
                  <a:lnTo>
                    <a:pt x="8136128" y="2674112"/>
                  </a:lnTo>
                  <a:lnTo>
                    <a:pt x="0" y="2674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96824" y="3157728"/>
            <a:ext cx="2002536" cy="1987296"/>
            <a:chOff x="0" y="0"/>
            <a:chExt cx="2670048" cy="26497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70048" cy="2649728"/>
            </a:xfrm>
            <a:custGeom>
              <a:avLst/>
              <a:gdLst/>
              <a:ahLst/>
              <a:cxnLst/>
              <a:rect l="l" t="t" r="r" b="b"/>
              <a:pathLst>
                <a:path w="2670048" h="2649728">
                  <a:moveTo>
                    <a:pt x="0" y="0"/>
                  </a:moveTo>
                  <a:lnTo>
                    <a:pt x="2670048" y="0"/>
                  </a:lnTo>
                  <a:lnTo>
                    <a:pt x="2670048" y="2649728"/>
                  </a:lnTo>
                  <a:lnTo>
                    <a:pt x="0" y="2649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92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545080" y="3157728"/>
            <a:ext cx="2005584" cy="1987296"/>
            <a:chOff x="0" y="0"/>
            <a:chExt cx="2674112" cy="26497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74112" cy="2649728"/>
            </a:xfrm>
            <a:custGeom>
              <a:avLst/>
              <a:gdLst/>
              <a:ahLst/>
              <a:cxnLst/>
              <a:rect l="l" t="t" r="r" b="b"/>
              <a:pathLst>
                <a:path w="2674112" h="2649728">
                  <a:moveTo>
                    <a:pt x="0" y="0"/>
                  </a:moveTo>
                  <a:lnTo>
                    <a:pt x="2674112" y="0"/>
                  </a:lnTo>
                  <a:lnTo>
                    <a:pt x="2674112" y="2649728"/>
                  </a:lnTo>
                  <a:lnTo>
                    <a:pt x="0" y="2649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92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96214" y="486204"/>
            <a:ext cx="1550079" cy="19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11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Components &amp; Tools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6214" y="2761088"/>
            <a:ext cx="647281" cy="120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"/>
              </a:lnSpc>
            </a:pPr>
            <a:r>
              <a:rPr lang="en-US" sz="648" spc="5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STM32F103C8T6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5846" y="2910621"/>
            <a:ext cx="17736" cy="9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"/>
              </a:lnSpc>
            </a:pPr>
            <a:r>
              <a:rPr lang="en-US" sz="551" spc="-4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45966" y="2761088"/>
            <a:ext cx="697030" cy="120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"/>
              </a:lnSpc>
            </a:pPr>
            <a:r>
              <a:rPr lang="en-US" sz="648" spc="5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Potentiometers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25645" y="2910621"/>
            <a:ext cx="17736" cy="9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"/>
              </a:lnSpc>
            </a:pPr>
            <a:r>
              <a:rPr lang="en-US" sz="551" spc="-4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95746" y="2761088"/>
            <a:ext cx="650719" cy="120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"/>
              </a:lnSpc>
            </a:pPr>
            <a:r>
              <a:rPr lang="en-US" sz="648" spc="5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LEDs &amp; Buzzer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96666" y="2910621"/>
            <a:ext cx="17736" cy="9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"/>
              </a:lnSpc>
            </a:pPr>
            <a:r>
              <a:rPr lang="en-US" sz="551" spc="-4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6214" y="2910621"/>
            <a:ext cx="2006260" cy="9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"/>
              </a:lnSpc>
            </a:pPr>
            <a:r>
              <a:rPr lang="en-US" sz="551" spc="-4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32-bitARMCortex-M3 microcontroller. Handles ADC sampling,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45966" y="2910621"/>
            <a:ext cx="1856080" cy="94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"/>
              </a:lnSpc>
            </a:pPr>
            <a:r>
              <a:rPr lang="en-US" sz="551" spc="-4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Three potentiometers simulate temperature, vibration, and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95746" y="2910621"/>
            <a:ext cx="1924593" cy="9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"/>
              </a:lnSpc>
            </a:pPr>
            <a:r>
              <a:rPr lang="en-US" sz="551" spc="-4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Green,Red,andBlueLEDs provide visual fault states. Buzzer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45278" y="2920403"/>
            <a:ext cx="1951758" cy="165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"/>
              </a:lnSpc>
            </a:pPr>
            <a:r>
              <a:rPr lang="en-US" sz="551" spc="-3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Used to acknowledge and mute intermediate warnings for 30 seconds during operation.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6214" y="2992641"/>
            <a:ext cx="1357560" cy="95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"/>
              </a:lnSpc>
            </a:pPr>
            <a:r>
              <a:rPr lang="en-US" sz="554" spc="-2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Threshold </a:t>
            </a:r>
            <a:r>
              <a:rPr lang="en-US" sz="554" spc="-2" dirty="0" err="1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logic,andUART</a:t>
            </a:r>
            <a:r>
              <a:rPr lang="en-US" sz="554" spc="-2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554" spc="-2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communication.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45966" y="2992641"/>
            <a:ext cx="928449" cy="95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"/>
              </a:lnSpc>
            </a:pPr>
            <a:r>
              <a:rPr lang="en-US" sz="554" spc="-4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Current sensor </a:t>
            </a:r>
            <a:r>
              <a:rPr lang="en-US" sz="554" spc="-4" dirty="0" err="1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analoginputs</a:t>
            </a:r>
            <a:r>
              <a:rPr lang="en-US" sz="554" spc="-4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.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95746" y="2992641"/>
            <a:ext cx="1801454" cy="95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"/>
              </a:lnSpc>
            </a:pPr>
            <a:r>
              <a:rPr lang="en-US" sz="554" spc="-4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Deliver </a:t>
            </a:r>
            <a:r>
              <a:rPr lang="en-US" sz="554" spc="-4" dirty="0" err="1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saudible</a:t>
            </a:r>
            <a:r>
              <a:rPr lang="en-US" sz="554" spc="-4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alert sat1200Hz,</a:t>
            </a:r>
            <a:r>
              <a:rPr lang="en-US" sz="554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554" spc="-4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1800</a:t>
            </a:r>
            <a:r>
              <a:rPr lang="en-US" sz="554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554" spc="-4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Hz,</a:t>
            </a:r>
            <a:r>
              <a:rPr lang="en-US" sz="554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554" spc="-4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and4000</a:t>
            </a:r>
            <a:r>
              <a:rPr lang="en-US" sz="554" spc="-4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554" spc="-4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Hz.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45278" y="2760783"/>
            <a:ext cx="554050" cy="12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"/>
              </a:lnSpc>
            </a:pPr>
            <a:r>
              <a:rPr lang="en-US" sz="650" spc="5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Push Button</a:t>
            </a:r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95607" y="1097398"/>
            <a:ext cx="3385309" cy="3656581"/>
          </a:xfrm>
          <a:custGeom>
            <a:avLst/>
            <a:gdLst/>
            <a:ahLst/>
            <a:cxnLst/>
            <a:rect l="l" t="t" r="r" b="b"/>
            <a:pathLst>
              <a:path w="3385309" h="3656581">
                <a:moveTo>
                  <a:pt x="0" y="0"/>
                </a:moveTo>
                <a:lnTo>
                  <a:pt x="3385309" y="0"/>
                </a:lnTo>
                <a:lnTo>
                  <a:pt x="3385309" y="3656581"/>
                </a:lnTo>
                <a:lnTo>
                  <a:pt x="0" y="3656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96214" y="654872"/>
            <a:ext cx="2641997" cy="339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1992" spc="1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Working Principle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9612" y="1298591"/>
            <a:ext cx="32385" cy="181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007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6214" y="2527961"/>
            <a:ext cx="88490" cy="13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4"/>
              </a:lnSpc>
            </a:pPr>
            <a:r>
              <a:rPr lang="en-US" sz="817" spc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2.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4350" y="2842680"/>
            <a:ext cx="90954" cy="62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60"/>
              </a:lnSpc>
            </a:pPr>
            <a:r>
              <a:rPr lang="en-US" sz="840" spc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3. 4.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6214" y="3413046"/>
            <a:ext cx="109090" cy="181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007" spc="1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5.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9547" y="4032790"/>
            <a:ext cx="32461" cy="17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4"/>
              </a:lnSpc>
            </a:pPr>
            <a:r>
              <a:rPr lang="en-US" sz="1010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6214" y="4215879"/>
            <a:ext cx="1199864" cy="181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007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real-time monitoring.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6214" y="1298591"/>
            <a:ext cx="4685995" cy="181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007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Themonitoring system followsa clearloop:read sensor values, compare against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6214" y="1395365"/>
            <a:ext cx="4701804" cy="778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010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thresholds, and trigger the correct output. Here is how the process works step by step.</a:t>
            </a:r>
          </a:p>
          <a:p>
            <a:pPr algn="l">
              <a:lnSpc>
                <a:spcPts val="2407"/>
              </a:lnSpc>
            </a:pPr>
            <a:r>
              <a:rPr lang="en-US" sz="1010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1.</a:t>
            </a:r>
            <a:r>
              <a:rPr lang="en-US" sz="1010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10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Threepotentiometersprovideanalogvoltageinputsrepresentingtemperature,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3976" y="2000745"/>
            <a:ext cx="32461" cy="17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4"/>
              </a:lnSpc>
            </a:pPr>
            <a:r>
              <a:rPr lang="en-US" sz="1010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9547" y="2271463"/>
            <a:ext cx="4662840" cy="1522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6"/>
              </a:lnSpc>
            </a:pPr>
            <a:r>
              <a:rPr lang="en-US" sz="1007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vibration, and current.</a:t>
            </a:r>
          </a:p>
          <a:p>
            <a:pPr algn="l">
              <a:lnSpc>
                <a:spcPts val="1516"/>
              </a:lnSpc>
            </a:pPr>
            <a:r>
              <a:rPr lang="en-US" sz="1007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STM32 ADC module converts these analog signals to digital values (0–4095 range, mapped to 0–100%).</a:t>
            </a:r>
          </a:p>
          <a:p>
            <a:pPr algn="l">
              <a:lnSpc>
                <a:spcPts val="1516"/>
              </a:lnSpc>
            </a:pPr>
            <a:r>
              <a:rPr lang="en-US" sz="1007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microcontroller compares each reading against predefined threshold levels. Based on the comparison, the system activates the appropriate LED, buzzer </a:t>
            </a:r>
          </a:p>
          <a:p>
            <a:pPr algn="l">
              <a:lnSpc>
                <a:spcPts val="1638"/>
              </a:lnSpc>
            </a:pPr>
            <a:r>
              <a:rPr lang="en-US" sz="1010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frequency, and UART message.</a:t>
            </a:r>
          </a:p>
          <a:p>
            <a:pPr algn="l">
              <a:lnSpc>
                <a:spcPts val="1394"/>
              </a:lnSpc>
            </a:pPr>
            <a:r>
              <a:rPr lang="en-US" sz="1007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A push button can mute intermediate warnings for 30 seconds to allow operator </a:t>
            </a:r>
          </a:p>
          <a:p>
            <a:pPr algn="l">
              <a:lnSpc>
                <a:spcPts val="1678"/>
              </a:lnSpc>
            </a:pPr>
            <a:r>
              <a:rPr lang="en-US" sz="1007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response.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17721" y="3279534"/>
            <a:ext cx="1949501" cy="181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007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Compare against threshold bands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17721" y="2256301"/>
            <a:ext cx="2166395" cy="181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007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Sample potentiometer values via ADC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6214" y="4032790"/>
            <a:ext cx="4690996" cy="17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4"/>
              </a:lnSpc>
            </a:pPr>
            <a:r>
              <a:rPr lang="en-US" sz="1010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Allstatusupdatesaretransmitted over UART to the PICSimLab serial terminal for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17721" y="4311682"/>
            <a:ext cx="2094195" cy="172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4"/>
              </a:lnSpc>
            </a:pPr>
            <a:r>
              <a:rPr lang="en-US" sz="1010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Activate LED, buzzer, and UART alert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17721" y="2925689"/>
            <a:ext cx="1355893" cy="223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7"/>
              </a:lnSpc>
            </a:pPr>
            <a:r>
              <a:rPr lang="en-US" sz="1247" spc="9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Classify State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17721" y="1197473"/>
            <a:ext cx="1551880" cy="928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4"/>
              </a:lnSpc>
            </a:pPr>
            <a:r>
              <a:rPr lang="en-US" sz="1247" spc="9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Monitoring Cycle</a:t>
            </a:r>
          </a:p>
          <a:p>
            <a:pPr algn="l">
              <a:lnSpc>
                <a:spcPts val="2482"/>
              </a:lnSpc>
            </a:pPr>
            <a:r>
              <a:rPr lang="en-US" sz="1007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</a:p>
          <a:p>
            <a:pPr algn="l">
              <a:lnSpc>
                <a:spcPts val="2371"/>
              </a:lnSpc>
            </a:pPr>
            <a:r>
              <a:rPr lang="en-US" sz="1247" spc="9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Read Inputs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17721" y="2632796"/>
            <a:ext cx="156067" cy="185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007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17721" y="3750726"/>
            <a:ext cx="1356093" cy="35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"/>
              </a:lnSpc>
            </a:pPr>
            <a:r>
              <a:rPr lang="en-US" sz="1010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</a:p>
          <a:p>
            <a:pPr algn="l">
              <a:lnSpc>
                <a:spcPts val="505"/>
              </a:lnSpc>
            </a:pPr>
            <a:endParaRPr lang="en-US" sz="1010" dirty="0">
              <a:solidFill>
                <a:srgbClr val="E5E0D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505"/>
              </a:lnSpc>
            </a:pPr>
            <a:endParaRPr lang="en-US" sz="1010" dirty="0">
              <a:solidFill>
                <a:srgbClr val="E5E0D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505"/>
              </a:lnSpc>
            </a:pPr>
            <a:endParaRPr lang="en-US" sz="1010" dirty="0">
              <a:solidFill>
                <a:srgbClr val="E5E0D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625"/>
              </a:lnSpc>
            </a:pPr>
            <a:r>
              <a:rPr lang="en-US" sz="1250" spc="10" dirty="0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Trigger Output</a:t>
            </a: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3321" y="1615945"/>
            <a:ext cx="8277349" cy="2781805"/>
          </a:xfrm>
          <a:custGeom>
            <a:avLst/>
            <a:gdLst/>
            <a:ahLst/>
            <a:cxnLst/>
            <a:rect l="l" t="t" r="r" b="b"/>
            <a:pathLst>
              <a:path w="8277349" h="2781805">
                <a:moveTo>
                  <a:pt x="0" y="0"/>
                </a:moveTo>
                <a:lnTo>
                  <a:pt x="8277349" y="0"/>
                </a:lnTo>
                <a:lnTo>
                  <a:pt x="8277349" y="2781805"/>
                </a:lnTo>
                <a:lnTo>
                  <a:pt x="0" y="2781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96214" y="683885"/>
            <a:ext cx="4679204" cy="384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60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Motor Fault State Conditions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8709" y="1310688"/>
            <a:ext cx="33928" cy="188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8"/>
              </a:lnSpc>
            </a:pPr>
            <a:r>
              <a:rPr lang="en-US" sz="105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5813" y="2413683"/>
            <a:ext cx="2928080" cy="188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8"/>
              </a:lnSpc>
            </a:pPr>
            <a:r>
              <a:rPr lang="en-US" sz="105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alarms. System continues monitoring quietly.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5813" y="3377736"/>
            <a:ext cx="3490370" cy="764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8"/>
              </a:lnSpc>
            </a:pPr>
            <a:r>
              <a:rPr lang="en-US" sz="105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Any parameter above 84%</a:t>
            </a:r>
          </a:p>
          <a:p>
            <a:pPr algn="l">
              <a:lnSpc>
                <a:spcPts val="2258"/>
              </a:lnSpc>
            </a:pPr>
            <a:r>
              <a:rPr lang="en-US" sz="105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 LED blinks. Buzzer at 1800 Hz. Critical fault message </a:t>
            </a:r>
          </a:p>
          <a:p>
            <a:pPr algn="l">
              <a:lnSpc>
                <a:spcPts val="1101"/>
              </a:lnSpc>
            </a:pPr>
            <a:r>
              <a:rPr lang="en-US" sz="105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displayed on terminal.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6214" y="4495486"/>
            <a:ext cx="6888680" cy="188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8"/>
              </a:lnSpc>
            </a:pPr>
            <a:r>
              <a:rPr lang="en-US" sz="105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Threshold values were chosen based on typical industrial motor operating ranges and can be adjusted in firmware.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6214" y="1310688"/>
            <a:ext cx="7504528" cy="188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8"/>
              </a:lnSpc>
            </a:pPr>
            <a:r>
              <a:rPr lang="en-US" sz="105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Thesystemclassifiesmotorhealthintofourstatesbasedonhowmanyparameters cross their thresholds and by how much.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13094" y="3377736"/>
            <a:ext cx="3605755" cy="764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8"/>
              </a:lnSpc>
            </a:pPr>
            <a:r>
              <a:rPr lang="en-US" sz="105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Two or more parameters above 84%</a:t>
            </a:r>
          </a:p>
          <a:p>
            <a:pPr algn="l">
              <a:lnSpc>
                <a:spcPts val="2258"/>
              </a:lnSpc>
            </a:pPr>
            <a:r>
              <a:rPr lang="en-US" sz="105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Blue LED ON, red LED blinks. Buzzer at 4000 Hz. Immediate </a:t>
            </a:r>
          </a:p>
          <a:p>
            <a:pPr algn="l">
              <a:lnSpc>
                <a:spcPts val="1101"/>
              </a:lnSpc>
            </a:pPr>
            <a:r>
              <a:rPr lang="en-US" sz="105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maintenance required.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13094" y="2413683"/>
            <a:ext cx="3820382" cy="402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8"/>
              </a:lnSpc>
            </a:pPr>
            <a:r>
              <a:rPr lang="en-US" sz="105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Green LED blinks. Buzzer at 1200 Hz. UART warning sent. Push button</a:t>
            </a:r>
            <a:r>
              <a:rPr lang="en-US" sz="1056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5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mutes</a:t>
            </a:r>
            <a:r>
              <a:rPr lang="en-US" sz="1056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5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</a:t>
            </a:r>
            <a:r>
              <a:rPr lang="en-US" sz="1056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5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30</a:t>
            </a:r>
            <a:r>
              <a:rPr lang="en-US" sz="1056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05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5813" y="1782851"/>
            <a:ext cx="633174" cy="23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346" spc="18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Normal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0794" y="2126628"/>
            <a:ext cx="34004" cy="18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1"/>
              </a:lnSpc>
            </a:pPr>
            <a:r>
              <a:rPr lang="en-US" sz="1058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13094" y="1782851"/>
            <a:ext cx="2106759" cy="23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346" spc="16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Intermediate Warning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38379" y="2126628"/>
            <a:ext cx="34004" cy="18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1"/>
              </a:lnSpc>
            </a:pPr>
            <a:r>
              <a:rPr lang="en-US" sz="1058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813" y="2126628"/>
            <a:ext cx="1566567" cy="18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1"/>
              </a:lnSpc>
            </a:pPr>
            <a:r>
              <a:rPr lang="en-US" sz="1058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Allparameters below 70%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13094" y="2126628"/>
            <a:ext cx="1422054" cy="18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1"/>
              </a:lnSpc>
            </a:pPr>
            <a:r>
              <a:rPr lang="en-US" sz="1058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Anyparameter70–83%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5813" y="3110303"/>
            <a:ext cx="1051055" cy="238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343" spc="16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High Fault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13094" y="3110303"/>
            <a:ext cx="1262062" cy="238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343" spc="16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Severe Fault</a:t>
            </a:r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08369" y="1302001"/>
            <a:ext cx="3808981" cy="3431029"/>
          </a:xfrm>
          <a:custGeom>
            <a:avLst/>
            <a:gdLst/>
            <a:ahLst/>
            <a:cxnLst/>
            <a:rect l="l" t="t" r="r" b="b"/>
            <a:pathLst>
              <a:path w="3808981" h="3431029">
                <a:moveTo>
                  <a:pt x="0" y="0"/>
                </a:moveTo>
                <a:lnTo>
                  <a:pt x="3808981" y="0"/>
                </a:lnTo>
                <a:lnTo>
                  <a:pt x="3808981" y="3431029"/>
                </a:lnTo>
                <a:lnTo>
                  <a:pt x="0" y="34310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96214" y="741016"/>
            <a:ext cx="6349736" cy="38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207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UART Communication &amp; Simulation Setup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9961" y="1468955"/>
            <a:ext cx="104461" cy="238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343" spc="1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6214" y="1468955"/>
            <a:ext cx="1367571" cy="238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343" spc="18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UARTProtocol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1257" y="1888160"/>
            <a:ext cx="35547" cy="18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16014" y="1468955"/>
            <a:ext cx="2317985" cy="238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343" spc="20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SimulationEnvironment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76929" y="2010556"/>
            <a:ext cx="950281" cy="23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346" spc="18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PICSimLab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47817" y="2029606"/>
            <a:ext cx="1299705" cy="1916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346" spc="18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Serial </a:t>
            </a:r>
          </a:p>
          <a:p>
            <a:pPr algn="l">
              <a:lnSpc>
                <a:spcPts val="1682"/>
              </a:lnSpc>
            </a:pPr>
            <a:r>
              <a:rPr lang="en-US" sz="1343" spc="10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Terminal</a:t>
            </a:r>
          </a:p>
          <a:p>
            <a:pPr algn="l">
              <a:lnSpc>
                <a:spcPts val="1759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Displays UART output in real time — fault messages, parameter values, and state transitions.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92435" y="2430599"/>
            <a:ext cx="35471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1644" y="2923584"/>
            <a:ext cx="35690" cy="18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b="1" spc="13">
                <a:solidFill>
                  <a:srgbClr val="E5E0D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68295" y="2923584"/>
            <a:ext cx="1399203" cy="18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spc="-8" dirty="0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115200(configurable)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4031" y="3368850"/>
            <a:ext cx="337099" cy="18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None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6214" y="1888160"/>
            <a:ext cx="4445441" cy="18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systemusesUARTserial communication to send real-time status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6214" y="2333415"/>
            <a:ext cx="4352430" cy="40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exact fault state, which parameter triggered it, and the measured value.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0007" y="3146631"/>
            <a:ext cx="80372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8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6103" y="3591887"/>
            <a:ext cx="80372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6214" y="4089225"/>
            <a:ext cx="4180961" cy="427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2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Messages include timestamps, parameter names, and the current motor state for every monitoring cycle.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6214" y="2111197"/>
            <a:ext cx="4198982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messages</a:t>
            </a:r>
            <a:r>
              <a:rPr lang="en-US" sz="1103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to</a:t>
            </a:r>
            <a:r>
              <a:rPr lang="en-US" sz="1103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</a:t>
            </a:r>
            <a:r>
              <a:rPr lang="en-US" sz="1103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PICSimLab</a:t>
            </a:r>
            <a:r>
              <a:rPr lang="en-US" sz="1103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terminal.</a:t>
            </a:r>
            <a:r>
              <a:rPr lang="en-US" sz="1103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This</a:t>
            </a:r>
            <a:r>
              <a:rPr lang="en-US" sz="1103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allows</a:t>
            </a:r>
            <a:r>
              <a:rPr lang="en-US" sz="1103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operators</a:t>
            </a:r>
            <a:r>
              <a:rPr lang="en-US" sz="1103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to</a:t>
            </a:r>
            <a:r>
              <a:rPr lang="en-US" sz="1103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see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76929" y="2411549"/>
            <a:ext cx="1299839" cy="1321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8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Simulates</a:t>
            </a:r>
            <a:r>
              <a:rPr lang="en-US" sz="1103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STM32</a:t>
            </a:r>
            <a:r>
              <a:rPr lang="en-US" sz="1103" spc="-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board, potentiometers, LEDs, buzzer, and push button without physical hardware.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6214" y="2809284"/>
            <a:ext cx="51454" cy="968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66"/>
              </a:lnSpc>
            </a:pPr>
            <a:r>
              <a:rPr lang="en-US" sz="1106" spc="1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• • • •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9023" y="2923584"/>
            <a:ext cx="661292" cy="18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b="1" spc="13">
                <a:solidFill>
                  <a:srgbClr val="E5E0D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Baudrate: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9023" y="3368850"/>
            <a:ext cx="614953" cy="409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b="1" spc="15">
                <a:solidFill>
                  <a:srgbClr val="E5E0D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Parity: Stop bits: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9023" y="3146631"/>
            <a:ext cx="611667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b="1" spc="14" dirty="0">
                <a:solidFill>
                  <a:srgbClr val="E5E0D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Data bits:</a:t>
            </a:r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8536" y="1380744"/>
            <a:ext cx="2639568" cy="3270504"/>
            <a:chOff x="0" y="0"/>
            <a:chExt cx="3519424" cy="43606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9424" cy="4360672"/>
            </a:xfrm>
            <a:custGeom>
              <a:avLst/>
              <a:gdLst/>
              <a:ahLst/>
              <a:cxnLst/>
              <a:rect l="l" t="t" r="r" b="b"/>
              <a:pathLst>
                <a:path w="3519424" h="4360672">
                  <a:moveTo>
                    <a:pt x="0" y="0"/>
                  </a:moveTo>
                  <a:lnTo>
                    <a:pt x="3519424" y="0"/>
                  </a:lnTo>
                  <a:lnTo>
                    <a:pt x="3519424" y="4360672"/>
                  </a:lnTo>
                  <a:lnTo>
                    <a:pt x="0" y="4360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243072" y="1380744"/>
            <a:ext cx="5404104" cy="3270504"/>
            <a:chOff x="0" y="0"/>
            <a:chExt cx="7205472" cy="43606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205472" cy="4360672"/>
            </a:xfrm>
            <a:custGeom>
              <a:avLst/>
              <a:gdLst/>
              <a:ahLst/>
              <a:cxnLst/>
              <a:rect l="l" t="t" r="r" b="b"/>
              <a:pathLst>
                <a:path w="7205472" h="4360672">
                  <a:moveTo>
                    <a:pt x="0" y="0"/>
                  </a:moveTo>
                  <a:lnTo>
                    <a:pt x="7205472" y="0"/>
                  </a:lnTo>
                  <a:lnTo>
                    <a:pt x="7205472" y="4360672"/>
                  </a:lnTo>
                  <a:lnTo>
                    <a:pt x="0" y="4360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96214" y="756837"/>
            <a:ext cx="5661327" cy="383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4"/>
              </a:lnSpc>
            </a:pPr>
            <a:r>
              <a:rPr lang="en-US" sz="2210" spc="17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Results, Advantages &amp; Future Work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43507" y="1503959"/>
            <a:ext cx="104651" cy="23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346" spc="10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4451" y="1427759"/>
            <a:ext cx="1687078" cy="616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1346" spc="18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ObservedResults</a:t>
            </a:r>
          </a:p>
          <a:p>
            <a:pPr algn="l">
              <a:lnSpc>
                <a:spcPts val="2530"/>
              </a:lnSpc>
            </a:pPr>
            <a:r>
              <a:rPr lang="en-US" sz="1103" spc="883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0061" y="1867357"/>
            <a:ext cx="35471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883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79930" y="1427759"/>
            <a:ext cx="1473441" cy="616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1346" spc="17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KeyAdvantages</a:t>
            </a:r>
          </a:p>
          <a:p>
            <a:pPr algn="l">
              <a:lnSpc>
                <a:spcPts val="2530"/>
              </a:lnSpc>
            </a:pPr>
            <a:r>
              <a:rPr lang="en-US" sz="1103" spc="883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75487" y="1867357"/>
            <a:ext cx="35471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883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45352" y="1427759"/>
            <a:ext cx="1262405" cy="616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1346" spc="14">
                <a:solidFill>
                  <a:srgbClr val="E5E0D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Future Scope</a:t>
            </a:r>
          </a:p>
          <a:p>
            <a:pPr algn="l">
              <a:lnSpc>
                <a:spcPts val="2530"/>
              </a:lnSpc>
            </a:pPr>
            <a:r>
              <a:rPr lang="en-US" sz="1103" spc="883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61527" y="1867357"/>
            <a:ext cx="35471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883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4451" y="2983563"/>
            <a:ext cx="48196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4451" y="3651323"/>
            <a:ext cx="48196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6955" y="1848307"/>
            <a:ext cx="2060953" cy="2434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Systemcorrectly classifies all four fault states in simulation. LED and buzzer responses match the defined threshold logic.</a:t>
            </a:r>
          </a:p>
          <a:p>
            <a:pPr algn="l">
              <a:lnSpc>
                <a:spcPts val="1750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UART terminal displays accurate, real-time status for every cycle.</a:t>
            </a:r>
          </a:p>
          <a:p>
            <a:pPr algn="l">
              <a:lnSpc>
                <a:spcPts val="1750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Push button successfully mutes intermediate warnings for 30 seconds.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79930" y="2983563"/>
            <a:ext cx="48196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79930" y="3428819"/>
            <a:ext cx="48196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02434" y="1848307"/>
            <a:ext cx="2059124" cy="221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Low-costdesign using a single microcontroller board.</a:t>
            </a:r>
          </a:p>
          <a:p>
            <a:pPr algn="l">
              <a:lnSpc>
                <a:spcPts val="1743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Simple to understand, build, and modify for different motor types.</a:t>
            </a:r>
          </a:p>
          <a:p>
            <a:pPr algn="l">
              <a:lnSpc>
                <a:spcPts val="1743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Fully simulated —no hardware needed for testing.</a:t>
            </a:r>
          </a:p>
          <a:p>
            <a:pPr algn="l">
              <a:lnSpc>
                <a:spcPts val="1743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Early detection helps reduce unplanned downtime and repair costs.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45352" y="2535250"/>
            <a:ext cx="48196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45352" y="2983563"/>
            <a:ext cx="48196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45352" y="3428819"/>
            <a:ext cx="48196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67856" y="1867357"/>
            <a:ext cx="1847145" cy="18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Replacepotentiometers with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67856" y="2070811"/>
            <a:ext cx="2078298" cy="198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 sensors (LM35, ADXL335, ACS712).</a:t>
            </a:r>
          </a:p>
          <a:p>
            <a:pPr algn="l">
              <a:lnSpc>
                <a:spcPts val="1743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Add LCD or OLED display for on- site status reading.</a:t>
            </a:r>
          </a:p>
          <a:p>
            <a:pPr algn="l">
              <a:lnSpc>
                <a:spcPts val="1743"/>
              </a:lnSpc>
            </a:pPr>
            <a:r>
              <a:rPr lang="en-US" sz="1103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Implement GSM or Wi-Fi module for remote alert notifications. Expand to multi-motor monitoring with CAN or RS485 communication.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4451" y="2312079"/>
            <a:ext cx="48301" cy="18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479930" y="2312079"/>
            <a:ext cx="48301" cy="18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106" spc="-8">
                <a:solidFill>
                  <a:srgbClr val="E5E0DF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50262" y="2278323"/>
            <a:ext cx="1928050" cy="479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7"/>
              </a:lnSpc>
            </a:pPr>
            <a:r>
              <a:rPr lang="en-US" sz="2762" spc="22">
                <a:solidFill>
                  <a:srgbClr val="FFFFFF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1006</Words>
  <Application>Microsoft Office PowerPoint</Application>
  <PresentationFormat>On-screen Show (16:9)</PresentationFormat>
  <Paragraphs>195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IBM Plex Sans</vt:lpstr>
      <vt:lpstr>Calibri</vt:lpstr>
      <vt:lpstr>IBM Plex Sans Bold</vt:lpstr>
      <vt:lpstr>IBM Plex Sans Condensed</vt:lpstr>
      <vt:lpstr>IBM Plex Sans Condensed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vibration, and current. The STM32 ADC module converts these analog signals to digital values (0–4095 range, mapped to 0–100%). The microcontroller compares each reading against predefined threshold levels. Based on the comparison, the system activates the</dc:title>
  <cp:lastModifiedBy>Madhu Mitha</cp:lastModifiedBy>
  <cp:revision>9</cp:revision>
  <dcterms:created xsi:type="dcterms:W3CDTF">2006-08-16T00:00:00Z</dcterms:created>
  <dcterms:modified xsi:type="dcterms:W3CDTF">2026-06-23T16:47:23Z</dcterms:modified>
  <dc:identifier>DAHNZ7kQsQg</dc:identifier>
</cp:coreProperties>
</file>